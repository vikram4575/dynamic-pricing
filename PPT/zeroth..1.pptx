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9" r:id="rId1"/>
  </p:sldMasterIdLst>
  <p:notesMasterIdLst>
    <p:notesMasterId r:id="rId15"/>
  </p:notesMasterIdLst>
  <p:sldIdLst>
    <p:sldId id="256" r:id="rId2"/>
    <p:sldId id="257" r:id="rId3"/>
    <p:sldId id="263" r:id="rId4"/>
    <p:sldId id="264" r:id="rId5"/>
    <p:sldId id="265" r:id="rId6"/>
    <p:sldId id="258" r:id="rId7"/>
    <p:sldId id="268" r:id="rId8"/>
    <p:sldId id="266" r:id="rId9"/>
    <p:sldId id="267" r:id="rId10"/>
    <p:sldId id="271" r:id="rId11"/>
    <p:sldId id="274" r:id="rId12"/>
    <p:sldId id="272" r:id="rId13"/>
    <p:sldId id="27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7FE37C4-854A-45A3-A4E9-D6182AC94815}">
          <p14:sldIdLst>
            <p14:sldId id="256"/>
            <p14:sldId id="257"/>
          </p14:sldIdLst>
        </p14:section>
        <p14:section name="Untitled Section" id="{34F729D6-23F1-4E63-A4AC-17B336E2FAE6}">
          <p14:sldIdLst>
            <p14:sldId id="263"/>
            <p14:sldId id="264"/>
            <p14:sldId id="265"/>
            <p14:sldId id="258"/>
            <p14:sldId id="268"/>
            <p14:sldId id="266"/>
            <p14:sldId id="267"/>
            <p14:sldId id="271"/>
            <p14:sldId id="274"/>
            <p14:sldId id="272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3405CC-EE72-4783-B9B8-4EECBB33686D}" type="datetimeFigureOut">
              <a:rPr lang="en-US" smtClean="0"/>
              <a:pPr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37D85-B989-4E46-ADE3-4E36A03D16C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F372A7FD-472C-47B4-AA17-7C127014295F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03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25B1-EBF3-41E2-8DE0-EE3C392629B6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06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3A060370-1888-4083-8214-657324661AE4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947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AA603-13C4-4415-8142-2F8C9E8CAC74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9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835E5-2FA7-494D-A2A3-86EAD09B3901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65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CCCAF-EDCC-4C31-8F5D-ED473F22C38B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4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D0969-2B93-4F70-8A1D-5E2D1B85B76A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5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BFEE9-79B8-411D-855D-51BD3B2E2233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88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4323A-DE1E-459C-9AE1-97F5CF67B571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86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2BFD1-2D5C-4CD8-9E5F-EA0021D641CD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48544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12A2BFD1-2D5C-4CD8-9E5F-EA0021D641CD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22756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12A2BFD1-2D5C-4CD8-9E5F-EA0021D641CD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7473647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12A2BFD1-2D5C-4CD8-9E5F-EA0021D641CD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51535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2BFD1-2D5C-4CD8-9E5F-EA0021D641CD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34173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2BFD1-2D5C-4CD8-9E5F-EA0021D641CD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744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471B5-E26D-413D-B4B2-3DA4C843F9E8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30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2FEDD46E-4467-496F-93AF-E3E384189B7E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1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2BFD1-2D5C-4CD8-9E5F-EA0021D641CD}" type="datetime1">
              <a:rPr lang="en-US" smtClean="0"/>
              <a:pPr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CS6811 - Project Work | Project Confirmation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675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hf hd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0810405" TargetMode="External"/><Relationship Id="rId2" Type="http://schemas.openxmlformats.org/officeDocument/2006/relationships/hyperlink" Target="https://ieeexplore.ieee.org/document/1072507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document/9807363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6766"/>
            <a:ext cx="7772400" cy="1470025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Dynamic Price Optimization for E-Commerce Using Deep Learning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8971" y="3886204"/>
            <a:ext cx="3298702" cy="147002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</a:p>
          <a:p>
            <a:pPr algn="l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R.GOBINATH  M.E,(</a:t>
            </a:r>
            <a:r>
              <a:rPr lang="en-IN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</a:t>
            </a:r>
          </a:p>
          <a:p>
            <a:pPr algn="l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AFF90A-4564-E238-A44D-27433B80CA2F}"/>
              </a:ext>
            </a:extLst>
          </p:cNvPr>
          <p:cNvSpPr txBox="1"/>
          <p:nvPr/>
        </p:nvSpPr>
        <p:spPr>
          <a:xfrm>
            <a:off x="5018320" y="3886204"/>
            <a:ext cx="36358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1.VIKRAM V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2.AHAMED RILWAN M K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15F8089-BFF5-8B65-24AF-9A4E4055F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83194"/>
            <a:ext cx="2895600" cy="36512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1904AS651 -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70686" y="875555"/>
            <a:ext cx="3802626" cy="850593"/>
          </a:xfrm>
        </p:spPr>
        <p:txBody>
          <a:bodyPr>
            <a:noAutofit/>
          </a:bodyPr>
          <a:lstStyle/>
          <a:p>
            <a:pPr algn="ctr"/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US" sz="32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6135" y="2003295"/>
            <a:ext cx="7371735" cy="2745686"/>
          </a:xfrm>
        </p:spPr>
        <p:txBody>
          <a:bodyPr>
            <a:noAutofit/>
          </a:bodyPr>
          <a:lstStyle/>
          <a:p>
            <a:pPr algn="just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highly competitive e-commerce industry,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pricing models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fail to adapt to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 market changes, fluctuating demand, and competitor pricing strategies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Traditional pricing methods often lead to </a:t>
            </a:r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lost revenue, customer dissatisfaction, and inefficient inventory management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A102D04-5E24-C561-D5AD-29C891362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83194"/>
            <a:ext cx="2895600" cy="36512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1904AS651 - Mini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1D79F-40D0-CDD7-5BAC-0EE5AFEB2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44" y="1915128"/>
            <a:ext cx="8229600" cy="793568"/>
          </a:xfrm>
        </p:spPr>
        <p:txBody>
          <a:bodyPr>
            <a:noAutofit/>
          </a:bodyPr>
          <a:lstStyle/>
          <a:p>
            <a:pPr algn="l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adopted to identify the problem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A8ECEF3-F645-7ADD-C488-A8E8AB4BE7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7144" y="3008777"/>
            <a:ext cx="858971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e-commerce pricing trends and fluctuations.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competitor pricing strategies and their impact on sales.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inefficiencies in traditional static pricing models.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data on customer behavior, demand shifts, and revenue trend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685CE-0CEC-086F-A7A3-4E923DD70E00}"/>
              </a:ext>
            </a:extLst>
          </p:cNvPr>
          <p:cNvSpPr txBox="1"/>
          <p:nvPr/>
        </p:nvSpPr>
        <p:spPr>
          <a:xfrm>
            <a:off x="2563589" y="686918"/>
            <a:ext cx="4016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Identified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56A1758-F35F-E74A-0B34-129C9E97B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83194"/>
            <a:ext cx="2895600" cy="36512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1904AS651 - Mini project</a:t>
            </a:r>
          </a:p>
        </p:txBody>
      </p:sp>
    </p:spTree>
    <p:extLst>
      <p:ext uri="{BB962C8B-B14F-4D97-AF65-F5344CB8AC3E}">
        <p14:creationId xmlns:p14="http://schemas.microsoft.com/office/powerpoint/2010/main" val="1310116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6D674-3F0A-3C0A-4B61-900F998E4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8360"/>
            <a:ext cx="8229600" cy="606477"/>
          </a:xfrm>
        </p:spPr>
        <p:txBody>
          <a:bodyPr>
            <a:noAutofit/>
          </a:bodyPr>
          <a:lstStyle/>
          <a:p>
            <a:pPr algn="ctr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you manage to solve it?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E03B646-AE13-A224-955A-9CC07097EA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8843" y="1766050"/>
            <a:ext cx="8066314" cy="308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dynamic pricing model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(LSTM)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the model on Sequential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pricing, demand, customer data, and competitor prices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collection and price optimization algorithms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FC1C1B1-6776-59F9-46C2-D6E6BFBB0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83194"/>
            <a:ext cx="2895600" cy="36512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1904AS651 - Mini project</a:t>
            </a:r>
          </a:p>
        </p:txBody>
      </p:sp>
    </p:spTree>
    <p:extLst>
      <p:ext uri="{BB962C8B-B14F-4D97-AF65-F5344CB8AC3E}">
        <p14:creationId xmlns:p14="http://schemas.microsoft.com/office/powerpoint/2010/main" val="2194116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73AD7-9C70-7641-CB9A-852669814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223" y="733056"/>
            <a:ext cx="6297561" cy="695946"/>
          </a:xfrm>
        </p:spPr>
        <p:txBody>
          <a:bodyPr>
            <a:normAutofit/>
          </a:bodyPr>
          <a:lstStyle/>
          <a:p>
            <a:pPr algn="ctr"/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Solution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EBFAEA7-96FF-00A6-DCB5-46C0207A36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4" y="2088143"/>
            <a:ext cx="810985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real-time pricing adjustments based on demand, competition, and trends.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intervention in pricing decisions. 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3248BB6-FAAF-2D0E-0897-60076C763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83194"/>
            <a:ext cx="2895600" cy="36512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1904AS651 - Mini project</a:t>
            </a:r>
          </a:p>
        </p:txBody>
      </p:sp>
    </p:spTree>
    <p:extLst>
      <p:ext uri="{BB962C8B-B14F-4D97-AF65-F5344CB8AC3E}">
        <p14:creationId xmlns:p14="http://schemas.microsoft.com/office/powerpoint/2010/main" val="3989027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2713" y="451512"/>
            <a:ext cx="5798574" cy="821096"/>
          </a:xfrm>
        </p:spPr>
        <p:txBody>
          <a:bodyPr>
            <a:normAutofit/>
          </a:bodyPr>
          <a:lstStyle/>
          <a:p>
            <a:pPr algn="ctr"/>
            <a:r>
              <a:rPr lang="en-IN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 Details</a:t>
            </a:r>
            <a:endParaRPr lang="en-US"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5763" y="1586433"/>
            <a:ext cx="8191041" cy="4661971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Deep Reinforcement Learning Framework for Dynamic Pricing Optimization in E-commerce Marketplaces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NAME: 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</a:p>
          <a:p>
            <a:pPr algn="just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 DATE</a:t>
            </a:r>
            <a:r>
              <a:rPr lang="en-I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December 2024</a:t>
            </a:r>
          </a:p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AUTHOR[S] NAME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Anurag Agnihotri, Infant raj 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7E8A51-9CBD-778E-E819-CB6553B83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73362"/>
            <a:ext cx="2895600" cy="36512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1904AS651 - Mini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E4100-3A2A-96AD-5709-F446AB7F0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342" y="98322"/>
            <a:ext cx="3967316" cy="462010"/>
          </a:xfrm>
        </p:spPr>
        <p:txBody>
          <a:bodyPr>
            <a:no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CE0CACA-8BAD-120F-10C5-1DCB9A3A68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2247969"/>
              </p:ext>
            </p:extLst>
          </p:nvPr>
        </p:nvGraphicFramePr>
        <p:xfrm>
          <a:off x="561067" y="469643"/>
          <a:ext cx="7707862" cy="6324424"/>
        </p:xfrm>
        <a:graphic>
          <a:graphicData uri="http://schemas.openxmlformats.org/drawingml/2006/table">
            <a:tbl>
              <a:tblPr bandRow="1" bandCol="1">
                <a:tableStyleId>{5940675A-B579-460E-94D1-54222C63F5DA}</a:tableStyleId>
              </a:tblPr>
              <a:tblGrid>
                <a:gridCol w="707531">
                  <a:extLst>
                    <a:ext uri="{9D8B030D-6E8A-4147-A177-3AD203B41FA5}">
                      <a16:colId xmlns:a16="http://schemas.microsoft.com/office/drawing/2014/main" val="179976513"/>
                    </a:ext>
                  </a:extLst>
                </a:gridCol>
                <a:gridCol w="1360843">
                  <a:extLst>
                    <a:ext uri="{9D8B030D-6E8A-4147-A177-3AD203B41FA5}">
                      <a16:colId xmlns:a16="http://schemas.microsoft.com/office/drawing/2014/main" val="3970861332"/>
                    </a:ext>
                  </a:extLst>
                </a:gridCol>
                <a:gridCol w="2560242">
                  <a:extLst>
                    <a:ext uri="{9D8B030D-6E8A-4147-A177-3AD203B41FA5}">
                      <a16:colId xmlns:a16="http://schemas.microsoft.com/office/drawing/2014/main" val="3430930774"/>
                    </a:ext>
                  </a:extLst>
                </a:gridCol>
                <a:gridCol w="1020318">
                  <a:extLst>
                    <a:ext uri="{9D8B030D-6E8A-4147-A177-3AD203B41FA5}">
                      <a16:colId xmlns:a16="http://schemas.microsoft.com/office/drawing/2014/main" val="2746717229"/>
                    </a:ext>
                  </a:extLst>
                </a:gridCol>
                <a:gridCol w="2058928">
                  <a:extLst>
                    <a:ext uri="{9D8B030D-6E8A-4147-A177-3AD203B41FA5}">
                      <a16:colId xmlns:a16="http://schemas.microsoft.com/office/drawing/2014/main" val="2722149109"/>
                    </a:ext>
                  </a:extLst>
                </a:gridCol>
              </a:tblGrid>
              <a:tr h="1020904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NO</a:t>
                      </a:r>
                      <a:endParaRPr lang="en-IN" sz="2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u="none" strike="noStrike" cap="none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none" strike="noStrike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/>
                        </a:rPr>
                        <a:t>Author Name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u="none" strike="noStrike" cap="none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none" strike="noStrike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/>
                        </a:rPr>
                        <a:t>Title of the paper 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u="none" strike="noStrike" cap="none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u="none" strike="noStrike" cap="none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/>
                        </a:rPr>
                        <a:t>Year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0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  <a:endParaRPr lang="en-US" sz="2000" b="1" u="none" strike="noStrike" cap="none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214345"/>
                  </a:ext>
                </a:extLst>
              </a:tr>
              <a:tr h="2567729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i-FI" sz="1800" u="none" strike="noStrike" kern="1200" baseline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Junxin</a:t>
                      </a: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shen</a:t>
                      </a: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, </a:t>
                      </a:r>
                      <a:r>
                        <a:rPr lang="en-IN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yashi</a:t>
                      </a: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wang , d </a:t>
                      </a:r>
                      <a:r>
                        <a:rPr lang="en-IN" sz="1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fanghao</a:t>
                      </a:r>
                      <a:r>
                        <a:rPr lang="en-IN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xiao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pricing strategy for data product through deep reinforcement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DRL improves pricing strategies by adapting to real-time market conditions.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revenue and customer satisfaction by balancing price and demand Using DQN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324123"/>
                  </a:ext>
                </a:extLst>
              </a:tr>
              <a:tr h="2418722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Anurag Agnihotri,</a:t>
                      </a: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Infant raj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Deep Reinforcement Learning Framework for Dynamic Pricing Optimization in E commerce Marketplaces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study investigates how DRL can optimize pricing strategies for data products. The findings indicate that reinforcement learning algorithm(DQN)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652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038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1272-180C-2640-3884-5EB88540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030" y="570271"/>
            <a:ext cx="6377940" cy="686467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Objectives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D11F4-041D-2008-D4B5-91C582666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67352"/>
            <a:ext cx="8229600" cy="3984523"/>
          </a:xfrm>
        </p:spPr>
        <p:txBody>
          <a:bodyPr>
            <a:noAutofit/>
          </a:bodyPr>
          <a:lstStyle/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&amp; Measurable Goals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Implement an AI-powered pricing strategy that adapts dynamically to market conditions, competitor prices, and customer demand, ensuring optimal pricing decisions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Personalize pricing strategies based on user behavior, purchasing trends, and demand forecasting, providing competitive and fair pricing to enhance customer experience.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9FA30-3D40-91C3-7D97-107FC5E7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 algn="ctr"/>
            <a:r>
              <a:rPr lang="en-US" b="1" dirty="0"/>
              <a:t>1904AS651 - Mini project</a:t>
            </a:r>
          </a:p>
        </p:txBody>
      </p:sp>
    </p:spTree>
    <p:extLst>
      <p:ext uri="{BB962C8B-B14F-4D97-AF65-F5344CB8AC3E}">
        <p14:creationId xmlns:p14="http://schemas.microsoft.com/office/powerpoint/2010/main" val="977370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FFFE7B13-8BD7-64EB-DCBA-8086DE74FE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886703"/>
            <a:ext cx="8229600" cy="241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Growth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Utilize deep learning to maximize revenue by balancing demand and supply, reducing price fluctuations, and optimizing promotional offers.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Edge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Leverage AI to outperform competitors by dynamically adjusting prices in real time, maintaining profitability while staying attractive in the market.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782965D-2B8F-9ED0-7D81-0BFA6CF86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 algn="ctr"/>
            <a:r>
              <a:rPr lang="en-US" b="1" dirty="0"/>
              <a:t>1904AS651 - Mini project</a:t>
            </a:r>
          </a:p>
        </p:txBody>
      </p:sp>
    </p:spTree>
    <p:extLst>
      <p:ext uri="{BB962C8B-B14F-4D97-AF65-F5344CB8AC3E}">
        <p14:creationId xmlns:p14="http://schemas.microsoft.com/office/powerpoint/2010/main" val="218409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0FFEC-F646-5A37-649E-AA3F6D236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048" y="467944"/>
            <a:ext cx="3899787" cy="629264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3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CE0C75-EFCD-7F52-4FC6-C1BCFD7B578B}"/>
              </a:ext>
            </a:extLst>
          </p:cNvPr>
          <p:cNvSpPr/>
          <p:nvPr/>
        </p:nvSpPr>
        <p:spPr>
          <a:xfrm>
            <a:off x="538735" y="1905980"/>
            <a:ext cx="2298568" cy="128489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Data: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Competitor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Trend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303FF7-219C-328C-40FA-05EE3A52CA1F}"/>
              </a:ext>
            </a:extLst>
          </p:cNvPr>
          <p:cNvSpPr/>
          <p:nvPr/>
        </p:nvSpPr>
        <p:spPr>
          <a:xfrm>
            <a:off x="3607520" y="1807295"/>
            <a:ext cx="1928960" cy="176339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&amp; Normalize</a:t>
            </a:r>
          </a:p>
          <a:p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Transformation (For Skewed Data)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D3FAC7-8303-6E7A-A6F3-9D9DDE435643}"/>
              </a:ext>
            </a:extLst>
          </p:cNvPr>
          <p:cNvSpPr/>
          <p:nvPr/>
        </p:nvSpPr>
        <p:spPr>
          <a:xfrm>
            <a:off x="6658108" y="4410276"/>
            <a:ext cx="1928960" cy="188109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IN" sz="14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Taining</a:t>
            </a:r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LSTM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Layer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7F7120-86C2-CB7C-4769-B7779C0C4DA1}"/>
              </a:ext>
            </a:extLst>
          </p:cNvPr>
          <p:cNvSpPr/>
          <p:nvPr/>
        </p:nvSpPr>
        <p:spPr>
          <a:xfrm>
            <a:off x="3631198" y="4445302"/>
            <a:ext cx="2058580" cy="103643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02076C6-89D8-14C3-256A-1880E635DF20}"/>
              </a:ext>
            </a:extLst>
          </p:cNvPr>
          <p:cNvCxnSpPr>
            <a:cxnSpLocks/>
          </p:cNvCxnSpPr>
          <p:nvPr/>
        </p:nvCxnSpPr>
        <p:spPr>
          <a:xfrm>
            <a:off x="2834188" y="2548427"/>
            <a:ext cx="7970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EDB393D-08C0-D3CA-6149-79BC2D27B9A8}"/>
              </a:ext>
            </a:extLst>
          </p:cNvPr>
          <p:cNvCxnSpPr>
            <a:cxnSpLocks/>
          </p:cNvCxnSpPr>
          <p:nvPr/>
        </p:nvCxnSpPr>
        <p:spPr>
          <a:xfrm>
            <a:off x="7622588" y="3570691"/>
            <a:ext cx="0" cy="8395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1348B6-E463-189F-1873-2D8C4221DACB}"/>
              </a:ext>
            </a:extLst>
          </p:cNvPr>
          <p:cNvCxnSpPr>
            <a:cxnSpLocks/>
            <a:endCxn id="11" idx="3"/>
          </p:cNvCxnSpPr>
          <p:nvPr/>
        </p:nvCxnSpPr>
        <p:spPr>
          <a:xfrm flipH="1">
            <a:off x="5689778" y="4963520"/>
            <a:ext cx="9683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4C2D911-63A3-094D-0EE8-216131B2AED5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2561849" y="4952018"/>
            <a:ext cx="1069349" cy="115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24BE70C-DB7F-1841-687F-2B81F2729D7A}"/>
              </a:ext>
            </a:extLst>
          </p:cNvPr>
          <p:cNvSpPr/>
          <p:nvPr/>
        </p:nvSpPr>
        <p:spPr>
          <a:xfrm>
            <a:off x="530194" y="4508958"/>
            <a:ext cx="2058580" cy="8861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 Optimal Dynamic Price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5411-3C4F-C9FA-465F-D8F1EDB9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 algn="ctr"/>
            <a:r>
              <a:rPr lang="en-US" b="1" dirty="0"/>
              <a:t>1904AS651 - Mini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27E7B9-BFF5-EBA1-0AA5-774A46EA20C5}"/>
              </a:ext>
            </a:extLst>
          </p:cNvPr>
          <p:cNvSpPr/>
          <p:nvPr/>
        </p:nvSpPr>
        <p:spPr>
          <a:xfrm>
            <a:off x="6306697" y="1726190"/>
            <a:ext cx="2280371" cy="184450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Creation Layer: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sliding windows of last n timestamp data</a:t>
            </a:r>
          </a:p>
          <a:p>
            <a:endParaRPr lang="en-IN" sz="1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0013E2D-864A-DE95-47F2-7939105A5C5F}"/>
              </a:ext>
            </a:extLst>
          </p:cNvPr>
          <p:cNvCxnSpPr>
            <a:cxnSpLocks/>
          </p:cNvCxnSpPr>
          <p:nvPr/>
        </p:nvCxnSpPr>
        <p:spPr>
          <a:xfrm>
            <a:off x="5536480" y="2548427"/>
            <a:ext cx="7970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888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39E3F-93AF-8AFD-1575-10CB21AC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541" y="746126"/>
            <a:ext cx="7536917" cy="797539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BCBBA-DF89-586C-C891-8480E5514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frameworks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2.x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tools (Flask…..)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testing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+ 32GB RAM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setup is sufficient.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DL training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TPU / AWS EC2 (A100 GPU)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ideal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323060-04AE-BF43-2A64-1A966C61E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 algn="ctr"/>
            <a:r>
              <a:rPr lang="en-US" b="1" dirty="0"/>
              <a:t>1904AS651 - Mini project</a:t>
            </a:r>
          </a:p>
        </p:txBody>
      </p:sp>
    </p:spTree>
    <p:extLst>
      <p:ext uri="{BB962C8B-B14F-4D97-AF65-F5344CB8AC3E}">
        <p14:creationId xmlns:p14="http://schemas.microsoft.com/office/powerpoint/2010/main" val="2035956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95631-FE8E-491E-9D39-E5D94DF3B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5494" y="967146"/>
            <a:ext cx="3633019" cy="639762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53BDC-D457-FEF6-4DA3-9DAA9E615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671" y="2278628"/>
            <a:ext cx="8229600" cy="2667000"/>
          </a:xfrm>
        </p:spPr>
        <p:txBody>
          <a:bodyPr>
            <a:noAutofit/>
          </a:bodyPr>
          <a:lstStyle/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https://ieeexplore.ieee.org/document/10725071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https://ieeexplore.ieee.org/document/10810405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https://ieeexplore.ieee.org/document/9807363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56811-C24F-4236-7B36-79D72F060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 algn="ctr"/>
            <a:r>
              <a:rPr lang="en-US" b="1" dirty="0"/>
              <a:t>1904AS651 - Mini project</a:t>
            </a:r>
          </a:p>
        </p:txBody>
      </p:sp>
    </p:spTree>
    <p:extLst>
      <p:ext uri="{BB962C8B-B14F-4D97-AF65-F5344CB8AC3E}">
        <p14:creationId xmlns:p14="http://schemas.microsoft.com/office/powerpoint/2010/main" val="2344762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6422-FC01-AF5F-DF4D-75591F1F7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61" y="2593173"/>
            <a:ext cx="6377940" cy="1293028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53724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Custom 1">
      <a:dk1>
        <a:srgbClr val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545</TotalTime>
  <Words>643</Words>
  <Application>Microsoft Office PowerPoint</Application>
  <PresentationFormat>On-screen Show (4:3)</PresentationFormat>
  <Paragraphs>124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Times New Roman</vt:lpstr>
      <vt:lpstr>Vapor Trail</vt:lpstr>
      <vt:lpstr>AI-Driven Dynamic Price Optimization for E-Commerce Using Deep Learning</vt:lpstr>
      <vt:lpstr>Motivation</vt:lpstr>
      <vt:lpstr>process adopted to identify the problem</vt:lpstr>
      <vt:lpstr>How do you manage to solve it?</vt:lpstr>
      <vt:lpstr>Scope of Solution</vt:lpstr>
      <vt:lpstr>Base Paper Details</vt:lpstr>
      <vt:lpstr>Literature Review</vt:lpstr>
      <vt:lpstr>Key Business Objectives</vt:lpstr>
      <vt:lpstr>PowerPoint Presentation</vt:lpstr>
      <vt:lpstr>Architecture</vt:lpstr>
      <vt:lpstr>Hardware/Software Requirements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vikram</dc:creator>
  <cp:lastModifiedBy>vikramluci@gmail.com</cp:lastModifiedBy>
  <cp:revision>29</cp:revision>
  <dcterms:modified xsi:type="dcterms:W3CDTF">2025-04-29T14:05:10Z</dcterms:modified>
</cp:coreProperties>
</file>